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5934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86992D2-59FE-45D1-847A-EA7CDC99370B}" type="datetime1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71AD-4225-439B-B0AF-FF523CEDED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6D428-B7DB-4039-B9EF-5BF0A1B77431}" type="datetime1">
              <a:rPr lang="it-IT" smtClean="0"/>
              <a:pPr/>
              <a:t>19/01/2026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553C36-AE66-42A1-BA56-51FF7F8C862C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553C36-AE66-42A1-BA56-51FF7F8C862C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51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 useBgFill="1">
        <p:nvSpPr>
          <p:cNvPr id="10" name="Rettango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15" name="Rettango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nettore dirit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dirit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20" name="Segnaposto dat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it-IT" noProof="0"/>
              <a:t>20XX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9346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3631" y="1621998"/>
            <a:ext cx="5068567" cy="1301390"/>
          </a:xfrm>
        </p:spPr>
        <p:txBody>
          <a:bodyPr rtlCol="0"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modificare</a:t>
            </a:r>
          </a:p>
        </p:txBody>
      </p:sp>
      <p:sp>
        <p:nvSpPr>
          <p:cNvPr id="9" name="Sottotitolo 2" descr="Tag=AccentColor&#10;Flavor=Light&#10;Target=Text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43633" y="3109652"/>
            <a:ext cx="5068567" cy="2395623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>
              <a:lnSpc>
                <a:spcPct val="150000"/>
              </a:lnSpc>
            </a:pPr>
            <a:r>
              <a:rPr lang="it-IT" noProof="0">
                <a:cs typeface="Calibri"/>
              </a:rPr>
              <a:t>Argomento uno</a:t>
            </a:r>
          </a:p>
          <a:p>
            <a:pPr rtl="0">
              <a:lnSpc>
                <a:spcPct val="150000"/>
              </a:lnSpc>
            </a:pPr>
            <a:r>
              <a:rPr lang="it-IT" noProof="0">
                <a:cs typeface="Calibri"/>
              </a:rPr>
              <a:t>Argomento due</a:t>
            </a:r>
          </a:p>
          <a:p>
            <a:pPr rtl="0">
              <a:lnSpc>
                <a:spcPct val="150000"/>
              </a:lnSpc>
            </a:pPr>
            <a:r>
              <a:rPr lang="it-IT" noProof="0">
                <a:cs typeface="Calibri"/>
              </a:rPr>
              <a:t>Argomento tre</a:t>
            </a:r>
          </a:p>
          <a:p>
            <a:pPr rtl="0">
              <a:lnSpc>
                <a:spcPct val="150000"/>
              </a:lnSpc>
            </a:pPr>
            <a:r>
              <a:rPr lang="it-IT" noProof="0">
                <a:cs typeface="Calibri"/>
              </a:rPr>
              <a:t>Argomento quattro</a:t>
            </a:r>
          </a:p>
          <a:p>
            <a:pPr rtl="0"/>
            <a:endParaRPr lang="it-IT" noProof="0">
              <a:solidFill>
                <a:schemeClr val="tx1"/>
              </a:solidFill>
            </a:endParaRPr>
          </a:p>
        </p:txBody>
      </p:sp>
      <p:sp>
        <p:nvSpPr>
          <p:cNvPr id="22" name="Segnaposto immagine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8913" cy="2626784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4" name="Segnaposto immagine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4913" y="3606263"/>
            <a:ext cx="4000500" cy="2608269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Segnaposto data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676" y="687140"/>
            <a:ext cx="1554480" cy="52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>
              <a:defRPr/>
            </a:pPr>
            <a:r>
              <a:rPr lang="it-IT" sz="1300" noProof="0" dirty="0">
                <a:solidFill>
                  <a:schemeClr val="bg1"/>
                </a:solidFill>
              </a:rPr>
              <a:t>20XX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2096" y="640855"/>
            <a:ext cx="1691640" cy="645295"/>
            <a:chOff x="2932096" y="640855"/>
            <a:chExt cx="1691640" cy="645295"/>
          </a:xfrm>
        </p:grpSpPr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diritto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73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diritto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1286150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Segnaposto piè di pagina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>
              <a:defRPr/>
            </a:pPr>
            <a:r>
              <a:rPr lang="it-IT" noProof="0" dirty="0">
                <a:solidFill>
                  <a:schemeClr val="bg1"/>
                </a:solidFill>
              </a:rPr>
              <a:t>Esempio testo a piè di pagina</a:t>
            </a:r>
          </a:p>
        </p:txBody>
      </p:sp>
      <p:sp>
        <p:nvSpPr>
          <p:cNvPr id="18" name="Segnaposto numero diapositiva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rtl="0">
              <a:defRPr/>
            </a:pPr>
            <a:fld id="{70B1FE82-5036-4003-B709-0840DA750BBE}" type="slidenum">
              <a:rPr lang="it-IT" noProof="0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‹N›</a:t>
            </a:fld>
            <a:endParaRPr lang="it-IT" noProof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5742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21" name="Segnaposto immagine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5" name="Segnaposto testo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26" name="Segnaposto testo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22" name="Segnaposto immagine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7" name="Segnaposto testo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96067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28" name="Segnaposto testo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96067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36" name="Segnaposto piè di pagina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23" name="Segnaposto immagine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9" name="Segnaposto testo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2535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30" name="Segnaposto testo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82535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24" name="Segnaposto immagine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1" name="Segnaposto testo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69002" y="5635244"/>
            <a:ext cx="2279649" cy="35029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sp>
        <p:nvSpPr>
          <p:cNvPr id="32" name="Segnaposto testo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9002" y="5912412"/>
            <a:ext cx="227964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it-IT" noProof="0"/>
              <a:t>Fai clic per modificare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egnaposto data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37" name="Segnaposto numero diapositiva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stazione della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3793" y="2735221"/>
            <a:ext cx="4775075" cy="85121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modificare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33793" y="3995988"/>
            <a:ext cx="4775075" cy="559656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>
                <a:solidFill>
                  <a:schemeClr val="tx1"/>
                </a:solidFill>
              </a:rPr>
              <a:t>Sottotitolo</a:t>
            </a:r>
          </a:p>
        </p:txBody>
      </p:sp>
      <p:sp>
        <p:nvSpPr>
          <p:cNvPr id="10" name="Segnaposto data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>
              <a:defRPr/>
            </a:pPr>
            <a:r>
              <a:rPr lang="it-IT" sz="1300" noProof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22" name="Segnaposto immagine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epilogo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18" name="Sottotitolo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sz="1800" noProof="0">
                <a:solidFill>
                  <a:schemeClr val="bg1">
                    <a:lumMod val="85000"/>
                    <a:lumOff val="15000"/>
                  </a:schemeClr>
                </a:solidFill>
              </a:rPr>
              <a:t>Fare clic per modificare lo stile del sottotitolo dello schema</a:t>
            </a:r>
          </a:p>
        </p:txBody>
      </p:sp>
      <p:sp>
        <p:nvSpPr>
          <p:cNvPr id="12" name="Segnaposto data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it-IT" noProof="0"/>
              <a:t>20XX</a:t>
            </a:r>
          </a:p>
        </p:txBody>
      </p:sp>
      <p:sp>
        <p:nvSpPr>
          <p:cNvPr id="22" name="Segnaposto immagine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6" name="Segnaposto immagine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4" name="Segnaposto immagine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8" name="Segnaposto immagine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19" name="Segnaposto piè di pagina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rtl="0">
              <a:defRPr/>
            </a:pPr>
            <a:r>
              <a:rPr lang="it-IT" noProof="0">
                <a:solidFill>
                  <a:srgbClr val="FFFFFF"/>
                </a:solidFill>
              </a:rPr>
              <a:t>Esempio testo a piè di pagina</a:t>
            </a:r>
          </a:p>
        </p:txBody>
      </p:sp>
      <p:sp>
        <p:nvSpPr>
          <p:cNvPr id="20" name="Segnaposto numero diapositiva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4FAB73BC-B049-4115-A692-8D63A059BFB8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112" y="0"/>
            <a:ext cx="652883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4166" y="610485"/>
            <a:ext cx="5103661" cy="1371600"/>
          </a:xfrm>
        </p:spPr>
        <p:txBody>
          <a:bodyPr rtlCol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modificare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egnaposto data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616" y="383781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it-IT" noProof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11" name="Segnaposto piè di pagina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580" y="6214535"/>
            <a:ext cx="4696948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it-IT" noProof="0">
                <a:solidFill>
                  <a:schemeClr val="bg1"/>
                </a:solidFill>
              </a:rPr>
              <a:t>Esempio testo a piè di pagina</a:t>
            </a:r>
          </a:p>
        </p:txBody>
      </p:sp>
      <p:sp>
        <p:nvSpPr>
          <p:cNvPr id="12" name="Segnaposto numero diapositiva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451" y="6214535"/>
            <a:ext cx="60526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34B7E4EF-A1BD-40F4-AB7B-04F084DD991D}" type="slidenum">
              <a:rPr lang="it-IT" noProof="0" smtClean="0">
                <a:solidFill>
                  <a:schemeClr val="bg1"/>
                </a:solidFill>
              </a:rPr>
              <a:pPr/>
              <a:t>‹N›</a:t>
            </a:fld>
            <a:endParaRPr lang="it-IT" noProof="0">
              <a:solidFill>
                <a:schemeClr val="bg1"/>
              </a:solidFill>
            </a:endParaRPr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438" cy="6858000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72625" y="2108844"/>
            <a:ext cx="5103812" cy="3790950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158" y="2100942"/>
            <a:ext cx="5716339" cy="2290607"/>
          </a:xfrm>
        </p:spPr>
        <p:txBody>
          <a:bodyPr rtlCol="0"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modificare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6" name="Segnaposto data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 rtlCol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 defTabSz="914400" rtl="0">
              <a:defRPr/>
            </a:pPr>
            <a:r>
              <a:rPr lang="it-IT" sz="1300" noProof="0"/>
              <a:t>20XX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8157" y="4698173"/>
            <a:ext cx="5716339" cy="658674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6" name="Segnaposto piè di pagina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 rtl="0">
              <a:defRPr/>
            </a:pPr>
            <a:r>
              <a:rPr lang="it-IT" noProof="0">
                <a:solidFill>
                  <a:schemeClr val="bg1"/>
                </a:solidFill>
              </a:rPr>
              <a:t>Esempio testo a piè di pagina</a:t>
            </a:r>
          </a:p>
        </p:txBody>
      </p:sp>
      <p:sp>
        <p:nvSpPr>
          <p:cNvPr id="22" name="Segnaposto immagine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37" name="Segnaposto immagine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4" name="Segnaposto immagine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 rtlCol="0"/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Connettore diritto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ttore diritto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egnaposto numero diapositiva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rtl="0">
              <a:defRPr/>
            </a:pPr>
            <a:fld id="{70B1FE82-5036-4003-B709-0840DA750BBE}" type="slidenum">
              <a:rPr lang="it-IT" noProof="0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‹N›</a:t>
            </a:fld>
            <a:endParaRPr lang="it-IT" noProof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gnaposto immagine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7950" y="2197853"/>
            <a:ext cx="4633415" cy="85121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Fai clic per modificare</a:t>
            </a:r>
          </a:p>
        </p:txBody>
      </p:sp>
      <p:sp>
        <p:nvSpPr>
          <p:cNvPr id="25" name="Segnaposto data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 rtl="0"/>
            <a:r>
              <a:rPr lang="it-IT" noProof="0"/>
              <a:t>20XX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357313" y="3308350"/>
            <a:ext cx="4633912" cy="2141632"/>
          </a:xfrm>
        </p:spPr>
        <p:txBody>
          <a:bodyPr rtlCol="0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endParaRPr lang="it-IT" noProof="0"/>
          </a:p>
        </p:txBody>
      </p:sp>
      <p:sp>
        <p:nvSpPr>
          <p:cNvPr id="27" name="Segnaposto piè di pagina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Esempio testo a piè di pagina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9890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056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3053588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1069848" y="2792472"/>
            <a:ext cx="3053588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569206" y="2074334"/>
            <a:ext cx="3053588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569206" y="2792471"/>
            <a:ext cx="3053588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testo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68564" y="2073651"/>
            <a:ext cx="3053588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1" name="Segnaposto contenuto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068564" y="2791788"/>
            <a:ext cx="3053588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843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69217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8" name="Segnaposto dat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11" name="Segnaposto numero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41894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r>
              <a:rPr lang="it-IT" noProof="0"/>
              <a:t>20XX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163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ttango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noProof="0"/>
          </a:p>
        </p:txBody>
      </p:sp>
      <p:sp>
        <p:nvSpPr>
          <p:cNvPr id="7" name="Rettango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Rettango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it-IT"/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9090EB-ECC3-4DBB-8660-D93FE3BD563D}" type="datetime1">
              <a:rPr lang="it-IT" smtClean="0"/>
              <a:pPr/>
              <a:t>19/01/2026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Esempio testo a piè di pagina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410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1" r:id="rId2"/>
    <p:sldLayoutId id="2147483660" r:id="rId3"/>
    <p:sldLayoutId id="2147483676" r:id="rId4"/>
    <p:sldLayoutId id="2147483673" r:id="rId5"/>
    <p:sldLayoutId id="2147483677" r:id="rId6"/>
    <p:sldLayoutId id="2147483672" r:id="rId7"/>
    <p:sldLayoutId id="2147483675" r:id="rId8"/>
    <p:sldLayoutId id="2147483678" r:id="rId9"/>
    <p:sldLayoutId id="2147483662" r:id="rId10"/>
    <p:sldLayoutId id="2147483663" r:id="rId11"/>
    <p:sldLayoutId id="2147483670" r:id="rId12"/>
    <p:sldLayoutId id="2147483664" r:id="rId13"/>
    <p:sldLayoutId id="2147483665" r:id="rId14"/>
    <p:sldLayoutId id="2147483666" r:id="rId15"/>
    <p:sldLayoutId id="214748366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1" y="2102004"/>
            <a:ext cx="8933796" cy="2437232"/>
          </a:xfrm>
        </p:spPr>
        <p:txBody>
          <a:bodyPr rtlCol="0">
            <a:normAutofit/>
          </a:bodyPr>
          <a:lstStyle/>
          <a:p>
            <a:pPr rtl="0"/>
            <a:r>
              <a:rPr lang="it-IT" sz="4800" dirty="0"/>
              <a:t>Images </a:t>
            </a:r>
            <a:r>
              <a:rPr lang="it-IT" sz="4800" dirty="0" err="1"/>
              <a:t>Rotation</a:t>
            </a:r>
            <a:r>
              <a:rPr lang="it-IT" sz="4800" dirty="0"/>
              <a:t> </a:t>
            </a:r>
            <a:r>
              <a:rPr lang="it-IT" sz="4800" dirty="0" err="1"/>
              <a:t>Classification</a:t>
            </a:r>
            <a:br>
              <a:rPr lang="it-IT" sz="4800" dirty="0"/>
            </a:br>
            <a:r>
              <a:rPr lang="it-IT" sz="3600" dirty="0"/>
              <a:t>Advanced Machine Learning</a:t>
            </a:r>
            <a:br>
              <a:rPr lang="it-IT" sz="3600" dirty="0"/>
            </a:br>
            <a:r>
              <a:rPr lang="it-IT" sz="2800" dirty="0"/>
              <a:t>Gennaio 2026</a:t>
            </a:r>
            <a:endParaRPr lang="it-IT" sz="48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/>
          <a:p>
            <a:pPr rtl="0"/>
            <a:r>
              <a:rPr lang="it-IT" sz="2400" dirty="0"/>
              <a:t>Pizzo Davide matricola:869254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150734E-499F-C3C9-2616-A32FEF474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pPr algn="ctr"/>
            <a:r>
              <a:rPr lang="en-US" dirty="0" err="1"/>
              <a:t>Contenuti</a:t>
            </a:r>
            <a:endParaRPr lang="en-US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93352F0-9226-45BB-EA13-DCB456E83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/>
          <a:lstStyle/>
          <a:p>
            <a:pPr rtl="0">
              <a:spcAft>
                <a:spcPts val="600"/>
              </a:spcAft>
            </a:pPr>
            <a:r>
              <a:rPr lang="it-IT" dirty="0"/>
              <a:t>Pizzo Davide 869254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4BD8D5CD-03D6-E07D-0562-31DD4670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it-IT" noProof="0" smtClean="0"/>
              <a:pPr rtl="0">
                <a:spcAft>
                  <a:spcPts val="600"/>
                </a:spcAft>
              </a:pPr>
              <a:t>2</a:t>
            </a:fld>
            <a:endParaRPr lang="it-IT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3C41796-4E28-A1CF-9E99-76B70D76F86B}"/>
              </a:ext>
            </a:extLst>
          </p:cNvPr>
          <p:cNvSpPr txBox="1"/>
          <p:nvPr/>
        </p:nvSpPr>
        <p:spPr>
          <a:xfrm>
            <a:off x="2261419" y="2014194"/>
            <a:ext cx="76691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2400" dirty="0"/>
              <a:t>Descrizione dataset e preparazione dataset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2400" dirty="0"/>
              <a:t>Approcci metodologici usati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2400" dirty="0"/>
              <a:t>Analisi e confronto risultati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2400" dirty="0"/>
              <a:t>Analisi limitazioni / miglioramenti possibili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it-IT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2400" dirty="0"/>
              <a:t>Conclusioni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430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263F5-8C80-56BC-AA00-4D097548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it-IT" dirty="0"/>
              <a:t>Dataset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708E5D-E5CE-1413-FEDD-90FA570CA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1815737"/>
          </a:xfrm>
        </p:spPr>
        <p:txBody>
          <a:bodyPr/>
          <a:lstStyle/>
          <a:p>
            <a:r>
              <a:rPr lang="en-US" dirty="0"/>
              <a:t>Dataset di </a:t>
            </a:r>
            <a:r>
              <a:rPr lang="en-US" dirty="0" err="1"/>
              <a:t>partenza</a:t>
            </a:r>
            <a:r>
              <a:rPr lang="en-US" dirty="0"/>
              <a:t> : </a:t>
            </a:r>
            <a:r>
              <a:rPr lang="en-US" b="1" dirty="0"/>
              <a:t>PASCAL VOC 2O12</a:t>
            </a:r>
          </a:p>
          <a:p>
            <a:r>
              <a:rPr lang="en-US" dirty="0" err="1"/>
              <a:t>Oltre</a:t>
            </a:r>
            <a:r>
              <a:rPr lang="en-US" dirty="0"/>
              <a:t> 5000 </a:t>
            </a:r>
            <a:r>
              <a:rPr lang="en-US" dirty="0" err="1"/>
              <a:t>immagini</a:t>
            </a:r>
            <a:r>
              <a:rPr lang="en-US" dirty="0"/>
              <a:t> </a:t>
            </a:r>
            <a:r>
              <a:rPr lang="en-US" dirty="0" err="1"/>
              <a:t>presenti</a:t>
            </a:r>
            <a:endParaRPr lang="en-US" dirty="0"/>
          </a:p>
          <a:p>
            <a:r>
              <a:rPr lang="en-US" dirty="0" err="1"/>
              <a:t>Elevata</a:t>
            </a:r>
            <a:r>
              <a:rPr lang="en-US" dirty="0"/>
              <a:t> </a:t>
            </a:r>
            <a:r>
              <a:rPr lang="en-US" dirty="0" err="1"/>
              <a:t>eterogeneità</a:t>
            </a:r>
            <a:r>
              <a:rPr lang="en-US" dirty="0"/>
              <a:t>: </a:t>
            </a:r>
            <a:r>
              <a:rPr lang="en-US" dirty="0" err="1"/>
              <a:t>Persone,animali,oggetti,veicoli</a:t>
            </a:r>
            <a:endParaRPr lang="en-US" dirty="0"/>
          </a:p>
          <a:p>
            <a:r>
              <a:rPr lang="en-US" dirty="0"/>
              <a:t>Non è un dataset </a:t>
            </a:r>
            <a:r>
              <a:rPr lang="en-US" u="sng" dirty="0" err="1"/>
              <a:t>specifico</a:t>
            </a:r>
            <a:r>
              <a:rPr lang="en-US" u="sng" dirty="0"/>
              <a:t> </a:t>
            </a:r>
            <a:r>
              <a:rPr lang="en-US" dirty="0" err="1"/>
              <a:t>pensato</a:t>
            </a:r>
            <a:r>
              <a:rPr lang="en-US" dirty="0"/>
              <a:t> per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di task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C4FE486-BEB7-FC6A-6106-F0F647D2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800" y="6035040"/>
            <a:ext cx="5816600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r>
              <a:rPr lang="it-IT" noProof="0" dirty="0"/>
              <a:t>Pizzo Davide 869254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8AF2DC1-BC7B-1281-0B64-1C549CCE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000" y="6035040"/>
            <a:ext cx="838200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it-IT" noProof="0" smtClean="0"/>
              <a:pPr rtl="0">
                <a:spcAft>
                  <a:spcPts val="600"/>
                </a:spcAft>
              </a:pPr>
              <a:t>3</a:t>
            </a:fld>
            <a:endParaRPr lang="it-IT" noProof="0"/>
          </a:p>
        </p:txBody>
      </p:sp>
      <p:pic>
        <p:nvPicPr>
          <p:cNvPr id="7" name="Immagine 6" descr="Immagine che contiene aria aperta, terreno, persona, Razza di cani&#10;&#10;Il contenuto generato dall'IA potrebbe non essere corretto.">
            <a:extLst>
              <a:ext uri="{FF2B5EF4-FFF2-40B4-BE49-F238E27FC236}">
                <a16:creationId xmlns:a16="http://schemas.microsoft.com/office/drawing/2014/main" id="{F005FAF1-2D41-EA4E-6CAA-D56599DF7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992" y="4278152"/>
            <a:ext cx="3121613" cy="1756888"/>
          </a:xfrm>
          <a:prstGeom prst="rect">
            <a:avLst/>
          </a:prstGeom>
        </p:spPr>
      </p:pic>
      <p:pic>
        <p:nvPicPr>
          <p:cNvPr id="9" name="Immagine 8" descr="Immagine che contiene ruota, Veicolo terrestre, veicolo, trasporto&#10;&#10;Il contenuto generato dall'IA potrebbe non essere corretto.">
            <a:extLst>
              <a:ext uri="{FF2B5EF4-FFF2-40B4-BE49-F238E27FC236}">
                <a16:creationId xmlns:a16="http://schemas.microsoft.com/office/drawing/2014/main" id="{63F846B5-F31F-3153-5753-B2E5FEFF2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796" y="4301798"/>
            <a:ext cx="3121613" cy="19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0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47CA60-F917-4168-FD87-186654CF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Dataset </a:t>
            </a:r>
            <a:r>
              <a:rPr lang="it-IT" dirty="0" err="1"/>
              <a:t>Preparation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EE5873-74A2-A2D7-5D41-5577A05A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000" dirty="0"/>
              <a:t>Selezione di 600 immagini, in modo da ridurre il carico computazionale</a:t>
            </a:r>
          </a:p>
          <a:p>
            <a:r>
              <a:rPr lang="it-IT" sz="2000" dirty="0"/>
              <a:t>Costruzione dataset utilizzato:</a:t>
            </a:r>
          </a:p>
          <a:p>
            <a:endParaRPr lang="it-IT" sz="2000" dirty="0"/>
          </a:p>
          <a:p>
            <a:pPr lvl="1"/>
            <a:r>
              <a:rPr lang="it-IT" sz="1800" dirty="0"/>
              <a:t>Immagini divise in quadrati (1 foto = 2 quadrati)</a:t>
            </a:r>
          </a:p>
          <a:p>
            <a:pPr lvl="1"/>
            <a:endParaRPr lang="it-IT" sz="1800" dirty="0"/>
          </a:p>
          <a:p>
            <a:pPr lvl="1"/>
            <a:r>
              <a:rPr lang="it-IT" sz="1800" dirty="0"/>
              <a:t>Applicate rotazioni casuali a tutte le immagini presenti</a:t>
            </a:r>
          </a:p>
          <a:p>
            <a:pPr lvl="1"/>
            <a:endParaRPr lang="it-IT" sz="1800" dirty="0"/>
          </a:p>
          <a:p>
            <a:pPr lvl="1"/>
            <a:r>
              <a:rPr lang="it-IT" sz="1800" dirty="0"/>
              <a:t>Train-test-split  60%-20%-20%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8801F69-AD0A-6941-5558-51E894DF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7718D-D881-8A01-8E04-DC4AA3F7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4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04167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8CA23C-7A36-001E-103A-91939C2E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73099"/>
            <a:ext cx="10058400" cy="1371600"/>
          </a:xfrm>
        </p:spPr>
        <p:txBody>
          <a:bodyPr/>
          <a:lstStyle/>
          <a:p>
            <a:pPr algn="ctr"/>
            <a:r>
              <a:rPr lang="it-IT" dirty="0"/>
              <a:t>Metodo di lavoro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F6FC7E-D28B-76B4-4273-DB89B74B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88490"/>
            <a:ext cx="10058400" cy="3849624"/>
          </a:xfrm>
        </p:spPr>
        <p:txBody>
          <a:bodyPr/>
          <a:lstStyle/>
          <a:p>
            <a:pPr marL="0" indent="0" algn="ctr">
              <a:buNone/>
            </a:pPr>
            <a:r>
              <a:rPr lang="it-IT" sz="2400" dirty="0"/>
              <a:t>2 approcci principali:</a:t>
            </a:r>
          </a:p>
          <a:p>
            <a:pPr marL="0" indent="0" algn="ctr">
              <a:buNone/>
            </a:pPr>
            <a:endParaRPr lang="it-IT" sz="2400" dirty="0"/>
          </a:p>
          <a:p>
            <a:pPr marL="342900" indent="-342900" algn="ctr">
              <a:buFont typeface="+mj-lt"/>
              <a:buAutoNum type="arabicPeriod"/>
            </a:pPr>
            <a:r>
              <a:rPr lang="it-IT" sz="2400" dirty="0"/>
              <a:t>CNN progettata manualmente</a:t>
            </a:r>
          </a:p>
          <a:p>
            <a:pPr marL="342900" indent="-342900" algn="ctr">
              <a:buFont typeface="+mj-lt"/>
              <a:buAutoNum type="arabicPeriod"/>
            </a:pPr>
            <a:endParaRPr lang="it-IT" sz="2400" dirty="0"/>
          </a:p>
          <a:p>
            <a:pPr marL="342900" indent="-342900" algn="ctr">
              <a:buFont typeface="+mj-lt"/>
              <a:buAutoNum type="arabicPeriod"/>
            </a:pPr>
            <a:r>
              <a:rPr lang="it-IT" sz="2400" dirty="0"/>
              <a:t>Feature </a:t>
            </a:r>
            <a:r>
              <a:rPr lang="it-IT" sz="2400" dirty="0" err="1"/>
              <a:t>Extraction</a:t>
            </a:r>
            <a:r>
              <a:rPr lang="it-IT" sz="2400" dirty="0"/>
              <a:t> + classificazione con SVM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DE3C27B-5D5E-FE88-59E9-DA283678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dirty="0"/>
              <a:t>Pizzo Davide 869254</a:t>
            </a:r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E4FFE4-6369-9491-E75E-D50CF58E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5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21786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7E4BF9-56B1-4A60-D0FB-531DA3F70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86723"/>
            <a:ext cx="10058400" cy="1371600"/>
          </a:xfrm>
        </p:spPr>
        <p:txBody>
          <a:bodyPr/>
          <a:lstStyle/>
          <a:p>
            <a:r>
              <a:rPr lang="it-IT" dirty="0"/>
              <a:t>CNN progettata manualmente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49DEED-EAF0-947A-614E-CF18A905B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43636"/>
            <a:ext cx="10058400" cy="3127641"/>
          </a:xfrm>
        </p:spPr>
        <p:txBody>
          <a:bodyPr/>
          <a:lstStyle/>
          <a:p>
            <a:r>
              <a:rPr lang="it-IT" sz="2000" dirty="0"/>
              <a:t>IDEA: progettare CNN addestrate da zero, analizzarne i risultati e provare a modificare </a:t>
            </a:r>
            <a:r>
              <a:rPr lang="it-IT" sz="2000" dirty="0" err="1"/>
              <a:t>struttura,parametri,ecc</a:t>
            </a:r>
            <a:r>
              <a:rPr lang="it-IT" sz="2000" dirty="0"/>
              <a:t>…per incrementare le prestazioni</a:t>
            </a:r>
          </a:p>
          <a:p>
            <a:endParaRPr lang="it-IT" sz="2000" dirty="0"/>
          </a:p>
          <a:p>
            <a:r>
              <a:rPr lang="it-IT" sz="2000" dirty="0"/>
              <a:t>La pipeline è stata partire da un modello di baseline, con performance non accettabili, migliorarlo passo-passo fino a raggiungere delle prestazioni che dato il contesto, possono essere considerate accettabili</a:t>
            </a:r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4527E2A-1158-5378-FB17-56C7CB3E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dirty="0"/>
              <a:t>Pizzo Davide 869254</a:t>
            </a:r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ED7631-4888-8387-0D2F-5E94A4F8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6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5265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8E8BEC-04E2-0572-D2C9-8EF13806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Evoluzione dei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6DE8BD-B1EE-03DC-0F0E-8A2446A71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Modello di partenza: modello molto semplice, bassa regolarizzazione, dropout non strutturato, </a:t>
            </a:r>
            <a:r>
              <a:rPr lang="it-IT" dirty="0" err="1"/>
              <a:t>batch_size</a:t>
            </a:r>
            <a:r>
              <a:rPr lang="it-IT" dirty="0"/>
              <a:t> bassa, 		    </a:t>
            </a:r>
            <a:r>
              <a:rPr lang="it-IT" dirty="0" err="1"/>
              <a:t>Adam’s</a:t>
            </a:r>
            <a:r>
              <a:rPr lang="it-IT" dirty="0"/>
              <a:t> learning rate non troppo alto(0,001)</a:t>
            </a:r>
          </a:p>
          <a:p>
            <a:r>
              <a:rPr lang="it-IT" dirty="0"/>
              <a:t>Miglioramenti apportati fino all’ultimo e migliore modello:</a:t>
            </a:r>
          </a:p>
          <a:p>
            <a:endParaRPr lang="it-IT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Riduzione </a:t>
            </a:r>
            <a:r>
              <a:rPr lang="it-IT" dirty="0" err="1"/>
              <a:t>Adam’s</a:t>
            </a:r>
            <a:r>
              <a:rPr lang="it-IT" dirty="0"/>
              <a:t> learning rate, per un apprendimento più graduale (0,0001)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Aumento </a:t>
            </a:r>
            <a:r>
              <a:rPr lang="it-IT" dirty="0" err="1"/>
              <a:t>batch_size</a:t>
            </a:r>
            <a:endParaRPr lang="it-IT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Modifica </a:t>
            </a:r>
            <a:r>
              <a:rPr lang="it-IT" dirty="0" err="1"/>
              <a:t>Dropout,adottando</a:t>
            </a:r>
            <a:r>
              <a:rPr lang="it-IT" dirty="0"/>
              <a:t> una strategia più graduale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Aumento delle epoche ed </a:t>
            </a:r>
            <a:r>
              <a:rPr lang="it-IT" dirty="0" err="1"/>
              <a:t>Early</a:t>
            </a:r>
            <a:r>
              <a:rPr lang="it-IT" dirty="0"/>
              <a:t> </a:t>
            </a:r>
            <a:r>
              <a:rPr lang="it-IT" dirty="0" err="1"/>
              <a:t>Stopping</a:t>
            </a:r>
            <a:r>
              <a:rPr lang="it-IT" dirty="0"/>
              <a:t> meno violento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Aumento numero filtri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Riduzione di Stride ed uso di </a:t>
            </a:r>
            <a:r>
              <a:rPr lang="it-IT" dirty="0" err="1"/>
              <a:t>MaxPooling</a:t>
            </a:r>
            <a:endParaRPr lang="it-IT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Applicazione di L2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F7CAD61-21BF-7BD9-55E7-CFD3E024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87CDD1-D1AA-A4FB-758D-548C5226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7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10056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5B653A-9D9D-EB05-0783-7A28A8B1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risultati - 1</a:t>
            </a:r>
          </a:p>
        </p:txBody>
      </p:sp>
      <p:pic>
        <p:nvPicPr>
          <p:cNvPr id="8" name="Segnaposto contenuto 7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E50F65E0-3B9F-803F-D5D1-92BAAEEA9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280" y="2214164"/>
            <a:ext cx="5363538" cy="2840157"/>
          </a:xfrm>
        </p:spPr>
      </p:pic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7C1444-C7F8-6688-1B18-DDD71946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B04A9F-0478-22CE-6DC7-C0FA0C4A2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8</a:t>
            </a:fld>
            <a:endParaRPr lang="it-IT" noProof="0" dirty="0"/>
          </a:p>
        </p:txBody>
      </p:sp>
      <p:pic>
        <p:nvPicPr>
          <p:cNvPr id="10" name="Immagine 9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13080BC-599D-096F-927A-7058B247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4164"/>
            <a:ext cx="5505720" cy="284015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7F6ECF-9822-663C-9C4A-78461AB5660F}"/>
              </a:ext>
            </a:extLst>
          </p:cNvPr>
          <p:cNvSpPr txBox="1"/>
          <p:nvPr/>
        </p:nvSpPr>
        <p:spPr>
          <a:xfrm>
            <a:off x="1738365" y="5163107"/>
            <a:ext cx="3084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Accuracy</a:t>
            </a:r>
            <a:r>
              <a:rPr lang="it-IT" dirty="0"/>
              <a:t> e Loss del primo modello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6FE0CA9-6E17-0C97-5C0B-0C8B40D91E7C}"/>
              </a:ext>
            </a:extLst>
          </p:cNvPr>
          <p:cNvSpPr txBox="1"/>
          <p:nvPr/>
        </p:nvSpPr>
        <p:spPr>
          <a:xfrm>
            <a:off x="7368793" y="5163106"/>
            <a:ext cx="3084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Accuracy</a:t>
            </a:r>
            <a:r>
              <a:rPr lang="it-IT" dirty="0"/>
              <a:t> e Loss del quinto modello</a:t>
            </a:r>
          </a:p>
        </p:txBody>
      </p:sp>
    </p:spTree>
    <p:extLst>
      <p:ext uri="{BB962C8B-B14F-4D97-AF65-F5344CB8AC3E}">
        <p14:creationId xmlns:p14="http://schemas.microsoft.com/office/powerpoint/2010/main" val="221214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414FDC-56A9-E35B-FD25-F49D9836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risultati - 2</a:t>
            </a:r>
          </a:p>
        </p:txBody>
      </p:sp>
      <p:pic>
        <p:nvPicPr>
          <p:cNvPr id="8" name="Segnaposto contenuto 7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92E65258-AF54-52AF-FC55-DFD7CFF6E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1" y="2260879"/>
            <a:ext cx="2942492" cy="2672951"/>
          </a:xfrm>
        </p:spPr>
      </p:pic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7896769-9E91-ECC1-F964-46BBE524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635795-DBA6-EDD6-249E-894B8E3E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9</a:t>
            </a:fld>
            <a:endParaRPr lang="it-IT" noProof="0"/>
          </a:p>
        </p:txBody>
      </p:sp>
      <p:pic>
        <p:nvPicPr>
          <p:cNvPr id="10" name="Immagine 9" descr="Immagine che contiene testo, schermat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55AC8DD4-BAFC-D021-526F-FC9FD83E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178" y="2260878"/>
            <a:ext cx="3000021" cy="2672951"/>
          </a:xfrm>
          <a:prstGeom prst="rect">
            <a:avLst/>
          </a:prstGeom>
        </p:spPr>
      </p:pic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84481E3C-4312-D227-6AE1-2DF151A1343A}"/>
              </a:ext>
            </a:extLst>
          </p:cNvPr>
          <p:cNvSpPr/>
          <p:nvPr/>
        </p:nvSpPr>
        <p:spPr>
          <a:xfrm>
            <a:off x="4009293" y="3255666"/>
            <a:ext cx="964641" cy="84406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9E67E0C-49C6-8EDB-4B7D-92DA9DC46202}"/>
              </a:ext>
            </a:extLst>
          </p:cNvPr>
          <p:cNvSpPr/>
          <p:nvPr/>
        </p:nvSpPr>
        <p:spPr>
          <a:xfrm>
            <a:off x="5171960" y="3546060"/>
            <a:ext cx="275303" cy="262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A5726265-E463-9DB3-FFDF-02CDA6896743}"/>
              </a:ext>
            </a:extLst>
          </p:cNvPr>
          <p:cNvSpPr/>
          <p:nvPr/>
        </p:nvSpPr>
        <p:spPr>
          <a:xfrm>
            <a:off x="5654281" y="3546060"/>
            <a:ext cx="275303" cy="262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CD10679-6CE5-1423-EF81-385FFAB44C92}"/>
              </a:ext>
            </a:extLst>
          </p:cNvPr>
          <p:cNvSpPr/>
          <p:nvPr/>
        </p:nvSpPr>
        <p:spPr>
          <a:xfrm>
            <a:off x="6165750" y="3546060"/>
            <a:ext cx="275303" cy="262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CE612FCD-2C65-48A8-8F62-05DF469C11D1}"/>
              </a:ext>
            </a:extLst>
          </p:cNvPr>
          <p:cNvSpPr/>
          <p:nvPr/>
        </p:nvSpPr>
        <p:spPr>
          <a:xfrm>
            <a:off x="7131388" y="3255234"/>
            <a:ext cx="964641" cy="84406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DCCBBC33-47FF-C753-28C1-5B71D5C105DA}"/>
              </a:ext>
            </a:extLst>
          </p:cNvPr>
          <p:cNvSpPr/>
          <p:nvPr/>
        </p:nvSpPr>
        <p:spPr>
          <a:xfrm>
            <a:off x="6639661" y="3546060"/>
            <a:ext cx="275303" cy="26241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2D3D523-5782-67B5-EA72-D7FD24634049}"/>
              </a:ext>
            </a:extLst>
          </p:cNvPr>
          <p:cNvSpPr txBox="1"/>
          <p:nvPr/>
        </p:nvSpPr>
        <p:spPr>
          <a:xfrm>
            <a:off x="1608898" y="5170683"/>
            <a:ext cx="1858297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Primo modello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9ED358E-5D87-6008-1CB5-D711313CD3E5}"/>
              </a:ext>
            </a:extLst>
          </p:cNvPr>
          <p:cNvSpPr txBox="1"/>
          <p:nvPr/>
        </p:nvSpPr>
        <p:spPr>
          <a:xfrm>
            <a:off x="8724807" y="5118674"/>
            <a:ext cx="1858297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Quinto modello</a:t>
            </a:r>
          </a:p>
        </p:txBody>
      </p:sp>
    </p:spTree>
    <p:extLst>
      <p:ext uri="{BB962C8B-B14F-4D97-AF65-F5344CB8AC3E}">
        <p14:creationId xmlns:p14="http://schemas.microsoft.com/office/powerpoint/2010/main" val="206364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D420E-F9AE-3D38-70D7-1098D801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Feature </a:t>
            </a:r>
            <a:r>
              <a:rPr lang="it-IT" dirty="0" err="1"/>
              <a:t>Extraction</a:t>
            </a:r>
            <a:r>
              <a:rPr lang="it-IT" dirty="0"/>
              <a:t> + SVM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E6C3AC-2E53-0FBC-D0C5-C572042E3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dirty="0"/>
              <a:t>Limiti approccio precedente:</a:t>
            </a:r>
          </a:p>
          <a:p>
            <a:pPr lvl="1"/>
            <a:r>
              <a:rPr lang="it-IT" sz="1800" dirty="0"/>
              <a:t>Rischio </a:t>
            </a:r>
            <a:r>
              <a:rPr lang="it-IT" sz="1800" dirty="0" err="1"/>
              <a:t>overfitting</a:t>
            </a:r>
            <a:endParaRPr lang="it-IT" sz="1800" dirty="0"/>
          </a:p>
          <a:p>
            <a:pPr lvl="1"/>
            <a:r>
              <a:rPr lang="it-IT" sz="1800" dirty="0"/>
              <a:t>Capacità limitata rispetto ad altri modelli esistenti</a:t>
            </a:r>
          </a:p>
          <a:p>
            <a:pPr lvl="1"/>
            <a:r>
              <a:rPr lang="it-IT" sz="1800" dirty="0"/>
              <a:t>Non si è sicuri che la miglior soluzione trovata sia effettivamente la migliore in assoluto</a:t>
            </a:r>
          </a:p>
          <a:p>
            <a:pPr lvl="1"/>
            <a:endParaRPr lang="it-IT" sz="1800" dirty="0"/>
          </a:p>
          <a:p>
            <a:r>
              <a:rPr lang="it-IT" sz="2000" dirty="0"/>
              <a:t>IDEA: usare una CNN </a:t>
            </a:r>
            <a:r>
              <a:rPr lang="it-IT" sz="2000" dirty="0" err="1"/>
              <a:t>pre</a:t>
            </a:r>
            <a:r>
              <a:rPr lang="it-IT" sz="2000" dirty="0"/>
              <a:t>-addestrata ,invece che apprendere da zero, per poi fare una classificazione con un        	</a:t>
            </a:r>
            <a:r>
              <a:rPr lang="it-IT" sz="2000" dirty="0" err="1"/>
              <a:t>algoritmo,come</a:t>
            </a:r>
            <a:r>
              <a:rPr lang="it-IT" sz="2000" dirty="0"/>
              <a:t> SVM, sulle feature estratte</a:t>
            </a:r>
          </a:p>
          <a:p>
            <a:r>
              <a:rPr lang="it-IT" sz="2000" dirty="0"/>
              <a:t>La scelta su che CNN usare è ricaduta su </a:t>
            </a:r>
            <a:r>
              <a:rPr lang="it-IT" sz="2000" dirty="0" err="1"/>
              <a:t>MobileNet</a:t>
            </a:r>
            <a:r>
              <a:rPr lang="it-IT" sz="2000" dirty="0"/>
              <a:t>.</a:t>
            </a:r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A6CBA5E-0C55-B2E5-4E70-44EAE030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A7975B-A74D-82BD-5771-399A0527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10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621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A8298F-505B-DAEC-D3FB-C5652EF3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SVM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CAA1BE-5DF0-51BF-9DFB-9730DF0C7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Migliori parametri trovati tramite </a:t>
            </a:r>
            <a:r>
              <a:rPr lang="it-IT" dirty="0" err="1"/>
              <a:t>gridSearch</a:t>
            </a:r>
            <a:r>
              <a:rPr lang="it-IT" dirty="0"/>
              <a:t> :</a:t>
            </a:r>
          </a:p>
          <a:p>
            <a:endParaRPr lang="it-IT" dirty="0"/>
          </a:p>
          <a:p>
            <a:r>
              <a:rPr lang="it-IT" dirty="0"/>
              <a:t>Parametri: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C : 10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Gamma : scale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it-IT" dirty="0"/>
              <a:t>Kernel : </a:t>
            </a:r>
            <a:r>
              <a:rPr lang="it-IT" dirty="0" err="1"/>
              <a:t>rbf</a:t>
            </a:r>
            <a:endParaRPr lang="it-IT" dirty="0"/>
          </a:p>
          <a:p>
            <a:pPr lvl="1">
              <a:buFont typeface="Wingdings" panose="05000000000000000000" pitchFamily="2" charset="2"/>
              <a:buChar char="q"/>
            </a:pPr>
            <a:endParaRPr lang="it-IT" dirty="0"/>
          </a:p>
          <a:p>
            <a:r>
              <a:rPr lang="it-IT" dirty="0"/>
              <a:t>Validazione tramite cross-</a:t>
            </a:r>
            <a:r>
              <a:rPr lang="it-IT" dirty="0" err="1"/>
              <a:t>validation</a:t>
            </a:r>
            <a:r>
              <a:rPr lang="it-IT" dirty="0"/>
              <a:t>  :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7C73F1-F2A2-41B8-3838-F1E96FF1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4202D1-0CDD-A6AE-F55E-5998BC53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11</a:t>
            </a:fld>
            <a:endParaRPr lang="it-IT" noProof="0"/>
          </a:p>
        </p:txBody>
      </p:sp>
      <p:pic>
        <p:nvPicPr>
          <p:cNvPr id="8" name="Immagine 7" descr="Immagine che contiene testo, Carattere, calligrafia, linea&#10;&#10;Il contenuto generato dall'IA potrebbe non essere corretto.">
            <a:extLst>
              <a:ext uri="{FF2B5EF4-FFF2-40B4-BE49-F238E27FC236}">
                <a16:creationId xmlns:a16="http://schemas.microsoft.com/office/drawing/2014/main" id="{65342732-96A4-1396-784D-F3A8787B2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648" y="1742107"/>
            <a:ext cx="4701402" cy="1141769"/>
          </a:xfrm>
          <a:prstGeom prst="rect">
            <a:avLst/>
          </a:prstGeom>
        </p:spPr>
      </p:pic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A3B93A77-6628-30BE-8B21-54F2E8876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648" y="3745656"/>
            <a:ext cx="385870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17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D94A90-3072-95BC-59EC-7B5444AF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69" y="457200"/>
            <a:ext cx="9718431" cy="989261"/>
          </a:xfrm>
        </p:spPr>
        <p:txBody>
          <a:bodyPr/>
          <a:lstStyle/>
          <a:p>
            <a:r>
              <a:rPr lang="it-IT" dirty="0"/>
              <a:t>Analisi risultati</a:t>
            </a:r>
          </a:p>
        </p:txBody>
      </p:sp>
      <p:pic>
        <p:nvPicPr>
          <p:cNvPr id="8" name="Segnaposto contenuto 7" descr="Immagine che contiene testo, schermata, Carattere, ricevuta&#10;&#10;Il contenuto generato dall'IA potrebbe non essere corretto.">
            <a:extLst>
              <a:ext uri="{FF2B5EF4-FFF2-40B4-BE49-F238E27FC236}">
                <a16:creationId xmlns:a16="http://schemas.microsoft.com/office/drawing/2014/main" id="{62CC142D-7D2A-E1AD-552E-1256D17FD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2133" y="4570075"/>
            <a:ext cx="3787734" cy="1863320"/>
          </a:xfrm>
        </p:spPr>
      </p:pic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5044D9E-2E7C-2D0C-D2D7-76E20093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880A0D-DD0D-9246-23AB-32386D68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12</a:t>
            </a:fld>
            <a:endParaRPr lang="it-IT" noProof="0"/>
          </a:p>
        </p:txBody>
      </p:sp>
      <p:pic>
        <p:nvPicPr>
          <p:cNvPr id="10" name="Immagine 9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725FB619-7CE7-79D4-AA8E-47B9AE66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698" y="1346229"/>
            <a:ext cx="3787733" cy="3047046"/>
          </a:xfrm>
          <a:prstGeom prst="rect">
            <a:avLst/>
          </a:prstGeom>
        </p:spPr>
      </p:pic>
      <p:pic>
        <p:nvPicPr>
          <p:cNvPr id="12" name="Immagine 11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48A19AD8-4985-F6D6-7511-0B2042F47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568" y="1356265"/>
            <a:ext cx="4064705" cy="303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17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EDD2BD-8471-DE50-D19B-46ACEF81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&amp; 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832B77-57F3-DBC8-B51C-DCC97C64F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271" y="2002943"/>
            <a:ext cx="4138246" cy="3849624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/>
              <a:t>CNN ad zero:</a:t>
            </a:r>
          </a:p>
          <a:p>
            <a:pPr marL="0" indent="0">
              <a:buNone/>
            </a:pPr>
            <a:endParaRPr lang="it-IT" sz="2000" dirty="0"/>
          </a:p>
          <a:p>
            <a:r>
              <a:rPr lang="it-IT" sz="2000" dirty="0"/>
              <a:t>Sviluppo incrementale del modello</a:t>
            </a:r>
          </a:p>
          <a:p>
            <a:r>
              <a:rPr lang="it-IT" sz="2000" dirty="0"/>
              <a:t>Miglioramento progressivo</a:t>
            </a:r>
          </a:p>
          <a:p>
            <a:r>
              <a:rPr lang="it-IT" sz="2000" dirty="0" err="1"/>
              <a:t>Accuracy</a:t>
            </a:r>
            <a:r>
              <a:rPr lang="it-IT" sz="2000" dirty="0"/>
              <a:t> media ~57%</a:t>
            </a:r>
          </a:p>
          <a:p>
            <a:r>
              <a:rPr lang="it-IT" sz="2000" dirty="0"/>
              <a:t>Prestazioni equilibrate tra le classi</a:t>
            </a:r>
          </a:p>
          <a:p>
            <a:r>
              <a:rPr lang="it-IT" sz="2000" dirty="0"/>
              <a:t>Rischio </a:t>
            </a:r>
            <a:r>
              <a:rPr lang="it-IT" sz="2000" dirty="0" err="1"/>
              <a:t>overfitting</a:t>
            </a:r>
            <a:endParaRPr lang="it-IT" sz="2000" dirty="0"/>
          </a:p>
          <a:p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C6293D2-FD39-09C8-4424-7C2AD517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it-IT" noProof="0" dirty="0"/>
              <a:t>Pizzo Davide 869254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F9B86F-9605-7A6B-30B7-5415D8FA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4B7E4EF-A1BD-40F4-AB7B-04F084DD991D}" type="slidenum">
              <a:rPr lang="it-IT" noProof="0" smtClean="0"/>
              <a:t>13</a:t>
            </a:fld>
            <a:endParaRPr lang="it-IT" noProof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27650C78-32DE-202C-9AF2-5DE3AF38C568}"/>
              </a:ext>
            </a:extLst>
          </p:cNvPr>
          <p:cNvSpPr txBox="1">
            <a:spLocks/>
          </p:cNvSpPr>
          <p:nvPr/>
        </p:nvSpPr>
        <p:spPr>
          <a:xfrm>
            <a:off x="6721483" y="2014194"/>
            <a:ext cx="4138246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000" dirty="0"/>
              <a:t>Feature </a:t>
            </a:r>
            <a:r>
              <a:rPr lang="it-IT" sz="2000" dirty="0" err="1"/>
              <a:t>Extraction</a:t>
            </a:r>
            <a:r>
              <a:rPr lang="it-IT" sz="2000" dirty="0"/>
              <a:t> + SVM:</a:t>
            </a:r>
          </a:p>
          <a:p>
            <a:pPr marL="0" indent="0">
              <a:buNone/>
            </a:pPr>
            <a:endParaRPr lang="it-IT" sz="2000" dirty="0"/>
          </a:p>
          <a:p>
            <a:r>
              <a:rPr lang="it-IT" sz="2000" dirty="0"/>
              <a:t>Feature estratte con </a:t>
            </a:r>
            <a:r>
              <a:rPr lang="it-IT" sz="2000" dirty="0" err="1"/>
              <a:t>MobileNet</a:t>
            </a:r>
            <a:endParaRPr lang="it-IT" sz="2000" dirty="0"/>
          </a:p>
          <a:p>
            <a:r>
              <a:rPr lang="it-IT" sz="2000" dirty="0" err="1"/>
              <a:t>Iperparametri</a:t>
            </a:r>
            <a:r>
              <a:rPr lang="it-IT" sz="2000" dirty="0"/>
              <a:t> ottimizzati</a:t>
            </a:r>
          </a:p>
          <a:p>
            <a:r>
              <a:rPr lang="it-IT" sz="2000" dirty="0" err="1"/>
              <a:t>Accuracy</a:t>
            </a:r>
            <a:r>
              <a:rPr lang="it-IT" sz="2000" dirty="0"/>
              <a:t> media ~64%</a:t>
            </a:r>
          </a:p>
          <a:p>
            <a:r>
              <a:rPr lang="it-IT" sz="2000" dirty="0"/>
              <a:t>Migliore prestazioni</a:t>
            </a:r>
          </a:p>
          <a:p>
            <a:r>
              <a:rPr lang="it-IT" sz="2000" dirty="0"/>
              <a:t>Squilibrio di performance tra 0°-180° e 90°-270°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19974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88DC7A-3484-13FB-3622-AA7C99919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Grazie per l’attenzione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8D4312-9B84-F2E3-0C58-E5E4B33C3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Pizzo Davide 869254</a:t>
            </a:r>
          </a:p>
        </p:txBody>
      </p:sp>
    </p:spTree>
    <p:extLst>
      <p:ext uri="{BB962C8B-B14F-4D97-AF65-F5344CB8AC3E}">
        <p14:creationId xmlns:p14="http://schemas.microsoft.com/office/powerpoint/2010/main" val="566510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554_TF78757031_Win32" id="{4A6FC3EB-2A9B-4EFA-8B32-1261AC009426}" vid="{C2999A02-8324-4420-BF10-96CA8F3299B7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3D0E2C-DCCF-4DCA-8700-60C67A2E1F4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13FC90C-E938-4D14-B988-1AABB7F8F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802517-FD5A-4D6F-9BEF-6B50583B6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 Sapone</Template>
  <TotalTime>307</TotalTime>
  <Words>507</Words>
  <Application>Microsoft Office PowerPoint</Application>
  <PresentationFormat>Widescreen</PresentationFormat>
  <Paragraphs>113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Arial</vt:lpstr>
      <vt:lpstr>Calibri</vt:lpstr>
      <vt:lpstr>Garamond</vt:lpstr>
      <vt:lpstr>Wingdings</vt:lpstr>
      <vt:lpstr>SavonVTI</vt:lpstr>
      <vt:lpstr>Images Rotation Classification Advanced Machine Learning Gennaio 2026</vt:lpstr>
      <vt:lpstr>Contenuti</vt:lpstr>
      <vt:lpstr>Dataset</vt:lpstr>
      <vt:lpstr>Dataset Preparation</vt:lpstr>
      <vt:lpstr>Metodo di lavoro</vt:lpstr>
      <vt:lpstr>CNN progettata manualmente</vt:lpstr>
      <vt:lpstr>Evoluzione dei modelli</vt:lpstr>
      <vt:lpstr>Analisi risultati - 1</vt:lpstr>
      <vt:lpstr>Analisi risultati - 2</vt:lpstr>
      <vt:lpstr>Feature Extraction + SVM</vt:lpstr>
      <vt:lpstr>SVM</vt:lpstr>
      <vt:lpstr>Analisi risultati</vt:lpstr>
      <vt:lpstr>Confronto &amp; conclusioni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d.pizzo@campus.unimib.it</dc:creator>
  <cp:lastModifiedBy>d.pizzo@campus.unimib.it</cp:lastModifiedBy>
  <cp:revision>5</cp:revision>
  <dcterms:created xsi:type="dcterms:W3CDTF">2026-01-17T10:19:29Z</dcterms:created>
  <dcterms:modified xsi:type="dcterms:W3CDTF">2026-01-19T13:29:03Z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